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f4e75a1be4e12" /><Relationship Type="http://schemas.openxmlformats.org/officeDocument/2006/relationships/extended-properties" Target="/docProps/app.xml" Id="Rdbe80932313b4991" /><Relationship Type="http://schemas.openxmlformats.org/officeDocument/2006/relationships/officeDocument" Target="/ppt/presentation.xml" Id="Rb2d397e0db414c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42a49b13eb4f1d"/>
  </p:sldMasterIdLst>
  <p:notesMasterIdLst>
    <p:notesMasterId xmlns:r="http://schemas.openxmlformats.org/officeDocument/2006/relationships" r:id="R7a02b32fb85e4dcf"/>
  </p:notesMasterIdLst>
  <p:sldIdLst>
    <p:sldId xmlns:r="http://schemas.openxmlformats.org/officeDocument/2006/relationships" id="256" r:id="R3a40b50a9dd847c4"/>
    <p:sldId xmlns:r="http://schemas.openxmlformats.org/officeDocument/2006/relationships" id="257" r:id="Rfc900c44d0934f9a"/>
    <p:sldId xmlns:r="http://schemas.openxmlformats.org/officeDocument/2006/relationships" id="258" r:id="R83bf960c579b4637"/>
    <p:sldId xmlns:r="http://schemas.openxmlformats.org/officeDocument/2006/relationships" id="259" r:id="R194578e590c7462f"/>
    <p:sldId xmlns:r="http://schemas.openxmlformats.org/officeDocument/2006/relationships" id="260" r:id="R4cfe48e2a6c9464e"/>
    <p:sldId xmlns:r="http://schemas.openxmlformats.org/officeDocument/2006/relationships" id="261" r:id="R59df0cc0bee04c11"/>
    <p:sldId xmlns:r="http://schemas.openxmlformats.org/officeDocument/2006/relationships" id="262" r:id="R0cba00c252da46f7"/>
    <p:sldId xmlns:r="http://schemas.openxmlformats.org/officeDocument/2006/relationships" id="263" r:id="R758472f52f0b4c0b"/>
    <p:sldId xmlns:r="http://schemas.openxmlformats.org/officeDocument/2006/relationships" id="264" r:id="R4bbcfc5f8ab64e38"/>
    <p:sldId xmlns:r="http://schemas.openxmlformats.org/officeDocument/2006/relationships" id="265" r:id="R9ec0b2aff2b04e8b"/>
    <p:sldId xmlns:r="http://schemas.openxmlformats.org/officeDocument/2006/relationships" id="266" r:id="R0df375423c56408d"/>
    <p:sldId xmlns:r="http://schemas.openxmlformats.org/officeDocument/2006/relationships" id="267" r:id="Rd227121c07c245f1"/>
    <p:sldId xmlns:r="http://schemas.openxmlformats.org/officeDocument/2006/relationships" id="268" r:id="R99788d3698494e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85cb1399c243df" /><Relationship Type="http://schemas.openxmlformats.org/officeDocument/2006/relationships/slideMaster" Target="/ppt/slideMasters/slideMaster1.xml" Id="R8942a49b13eb4f1d" /><Relationship Type="http://schemas.openxmlformats.org/officeDocument/2006/relationships/notesMaster" Target="/ppt/notesMasters/notesMaster1.xml" Id="R7a02b32fb85e4dcf" /><Relationship Type="http://schemas.openxmlformats.org/officeDocument/2006/relationships/presProps" Target="/ppt/presProps.xml" Id="Re1d2b891210840cf" /><Relationship Type="http://schemas.openxmlformats.org/officeDocument/2006/relationships/tableStyles" Target="/ppt/tableStyles.xml" Id="R29aad3d0290d4cef" /><Relationship Type="http://schemas.openxmlformats.org/officeDocument/2006/relationships/slide" Target="/ppt/slides/slide1.xml" Id="R3a40b50a9dd847c4" /><Relationship Type="http://schemas.openxmlformats.org/officeDocument/2006/relationships/slide" Target="/ppt/slides/slide2.xml" Id="Rfc900c44d0934f9a" /><Relationship Type="http://schemas.openxmlformats.org/officeDocument/2006/relationships/slide" Target="/ppt/slides/slide3.xml" Id="R83bf960c579b4637" /><Relationship Type="http://schemas.openxmlformats.org/officeDocument/2006/relationships/slide" Target="/ppt/slides/slide4.xml" Id="R194578e590c7462f" /><Relationship Type="http://schemas.openxmlformats.org/officeDocument/2006/relationships/slide" Target="/ppt/slides/slide5.xml" Id="R4cfe48e2a6c9464e" /><Relationship Type="http://schemas.openxmlformats.org/officeDocument/2006/relationships/slide" Target="/ppt/slides/slide6.xml" Id="R59df0cc0bee04c11" /><Relationship Type="http://schemas.openxmlformats.org/officeDocument/2006/relationships/slide" Target="/ppt/slides/slide7.xml" Id="R0cba00c252da46f7" /><Relationship Type="http://schemas.openxmlformats.org/officeDocument/2006/relationships/slide" Target="/ppt/slides/slide8.xml" Id="R758472f52f0b4c0b" /><Relationship Type="http://schemas.openxmlformats.org/officeDocument/2006/relationships/slide" Target="/ppt/slides/slide9.xml" Id="R4bbcfc5f8ab64e38" /><Relationship Type="http://schemas.openxmlformats.org/officeDocument/2006/relationships/slide" Target="/ppt/slides/slide10.xml" Id="R9ec0b2aff2b04e8b" /><Relationship Type="http://schemas.openxmlformats.org/officeDocument/2006/relationships/slide" Target="/ppt/slides/slide11.xml" Id="R0df375423c56408d" /><Relationship Type="http://schemas.openxmlformats.org/officeDocument/2006/relationships/slide" Target="/ppt/slides/slide12.xml" Id="Rd227121c07c245f1" /><Relationship Type="http://schemas.openxmlformats.org/officeDocument/2006/relationships/slide" Target="/ppt/slides/slide13.xml" Id="R99788d369849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5213d0c6c049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28aef66ab4bb8" /><Relationship Type="http://schemas.openxmlformats.org/officeDocument/2006/relationships/notesMaster" Target="/ppt/notesMasters/notesMaster1.xml" Id="Rc9d384fa5f4749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7e0de022284555" /><Relationship Type="http://schemas.openxmlformats.org/officeDocument/2006/relationships/notesMaster" Target="/ppt/notesMasters/notesMaster1.xml" Id="R16bafd4a83d0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a0792577cd4ba7" /><Relationship Type="http://schemas.openxmlformats.org/officeDocument/2006/relationships/notesMaster" Target="/ppt/notesMasters/notesMaster1.xml" Id="R4d2dc5dc9d0d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62c162244c4f94" /><Relationship Type="http://schemas.openxmlformats.org/officeDocument/2006/relationships/notesMaster" Target="/ppt/notesMasters/notesMaster1.xml" Id="Rb0e50328056742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e40411c54b4e44" /><Relationship Type="http://schemas.openxmlformats.org/officeDocument/2006/relationships/notesMaster" Target="/ppt/notesMasters/notesMaster1.xml" Id="Re99571d375334e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06c136d1874af0" /><Relationship Type="http://schemas.openxmlformats.org/officeDocument/2006/relationships/notesMaster" Target="/ppt/notesMasters/notesMaster1.xml" Id="R11962d4944ed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8020c2e34c4d84" /><Relationship Type="http://schemas.openxmlformats.org/officeDocument/2006/relationships/notesMaster" Target="/ppt/notesMasters/notesMaster1.xml" Id="R88472bc1c35e40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8a4e4ec4243b9" /><Relationship Type="http://schemas.openxmlformats.org/officeDocument/2006/relationships/notesMaster" Target="/ppt/notesMasters/notesMaster1.xml" Id="R9a89e615068641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81eaf5831f4c8e" /><Relationship Type="http://schemas.openxmlformats.org/officeDocument/2006/relationships/notesMaster" Target="/ppt/notesMasters/notesMaster1.xml" Id="R59548e41667c48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bc4189f9a64577" /><Relationship Type="http://schemas.openxmlformats.org/officeDocument/2006/relationships/notesMaster" Target="/ppt/notesMasters/notesMaster1.xml" Id="R2ac58d53ff7a42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92601ad72f4ba2" /><Relationship Type="http://schemas.openxmlformats.org/officeDocument/2006/relationships/notesMaster" Target="/ppt/notesMasters/notesMaster1.xml" Id="Rf41ee133694b4e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2dbb9cef5b44f1" /><Relationship Type="http://schemas.openxmlformats.org/officeDocument/2006/relationships/notesMaster" Target="/ppt/notesMasters/notesMaster1.xml" Id="R66334f5fd18145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994412c75248cc" /><Relationship Type="http://schemas.openxmlformats.org/officeDocument/2006/relationships/notesMaster" Target="/ppt/notesMasters/notesMaster1.xml" Id="R6665ff76e87f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educational software engineering. The system is alert-only, not financial advice, not a profit promise, and not live auto-trading.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Session 1 is not full implementation. Students should not let Codex build until the plan passes the review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directly: do not open my live bot folder, do not use my repo, and do not copy my .env, database, logs, deploy keys, or credentials.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students from asking Codex to build everything in one giant thread. Thread A stops at the project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principal-ml-engineer is a reusable architecture and evaluation lens here. Quant-researcher is mainly for Session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is a visual target only. Do not hand students the instructor repo or live dashboard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old original prompt is historical. The current student prompt is what they paste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this slide to start Thread A in Project Plan mode.</a:t>
            </a:r>
          </a:p>
          <a:p xmlns:a="http://schemas.openxmlformats.org/drawingml/2006/main">
            <a:r>
              <a:t>The visible slide is student-facing. Do not place the full prompt on the slide.</a:t>
            </a:r>
          </a:p>
          <a:p xmlns:a="http://schemas.openxmlformats.org/drawingml/2006/main">
            <a:r>
              <a:t>Copy everything between COPY/PASTE START and COPY/PASTE END into the student's Codex Thread A chat as one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pasting, confirm:</a:t>
            </a:r>
          </a:p>
          <a:p xmlns:a="http://schemas.openxmlformats.org/drawingml/2006/main">
            <a:r>
              <a:t>- The student is in their own blank folder.</a:t>
            </a:r>
          </a:p>
          <a:p xmlns:a="http://schemas.openxmlformats.org/drawingml/2006/main">
            <a:r>
              <a:t>- The thread is named Thread A - Build SPY/QQQ/IWM Alert Bot Project Plan.</a:t>
            </a:r>
          </a:p>
          <a:p xmlns:a="http://schemas.openxmlformats.org/drawingml/2006/main">
            <a:r>
              <a:t>- Project Plan mode is selected.</a:t>
            </a:r>
          </a:p>
          <a:p xmlns:a="http://schemas.openxmlformats.org/drawingml/2006/main">
            <a:r>
              <a:t>- The student understands this is alert-only educational software, not financial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COPY/PASTE START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an educational, alert-only options bot for SPY, QQQ, and IWM that helps a human review potential day-trading setups. The bot must scan market conditions only during the configured market-data window, score alerts, show a Streamlit dashboard, support manual review, support paper/replay validation, support a separate Carter Squeeze signal lane, support conservative research risk gates, and keep every workflow manual-review-only.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not financial advice, not a profit promise, and not an auto-trading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Codex in Project Plan mode. Use GPT-5 or the highest available Codex reasoning model with high thinking/reasoning and standard speed. Use the following skills if available: principal-ml-engineer, quant-researcher, and ui-ux-designer.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want to build the current version of my SPY/QQQ/IWM alert bot as an educational software engineering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bot should be a Python 3.9+ project with: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Streamlit dashboard</a:t>
            </a:r>
          </a:p>
          <a:p xmlns:a="http://schemas.openxmlformats.org/drawingml/2006/main">
            <a:r>
              <a:t>- SQLite storage</a:t>
            </a:r>
          </a:p>
          <a:p xmlns:a="http://schemas.openxmlformats.org/drawingml/2006/main">
            <a:r>
              <a:t>- yfinance market data</a:t>
            </a:r>
          </a:p>
          <a:p xmlns:a="http://schemas.openxmlformats.org/drawingml/2006/main">
            <a:r>
              <a:t>- pytest tests</a:t>
            </a:r>
          </a:p>
          <a:p xmlns:a="http://schemas.openxmlformats.org/drawingml/2006/main">
            <a:r>
              <a:t>- Telegram alert support</a:t>
            </a:r>
          </a:p>
          <a:p xmlns:a="http://schemas.openxmlformats.org/drawingml/2006/main">
            <a:r>
              <a:t>- optional local AI/research-summary support</a:t>
            </a:r>
          </a:p>
          <a:p xmlns:a="http://schemas.openxmlformats.org/drawingml/2006/main">
            <a:r>
              <a:t>- Gmail/email delivery support for research summaries if configured</a:t>
            </a:r>
          </a:p>
          <a:p xmlns:a="http://schemas.openxmlformats.org/drawingml/2006/main">
            <a:r>
              <a:t>- replay and paper validation for educational evidence only</a:t>
            </a:r>
          </a:p>
          <a:p xmlns:a="http://schemas.openxmlformats.org/drawingml/2006/main">
            <a:r>
              <a:t>- no broker execution</a:t>
            </a:r>
          </a:p>
          <a:p xmlns:a="http://schemas.openxmlformats.org/drawingml/2006/main">
            <a:r>
              <a:t>- no Robinhood integration</a:t>
            </a:r>
          </a:p>
          <a:p xmlns:a="http://schemas.openxmlformats.org/drawingml/2006/main">
            <a:r>
              <a:t>- no automatic live rule changes</a:t>
            </a:r>
          </a:p>
          <a:p xmlns:a="http://schemas.openxmlformats.org/drawingml/2006/main">
            <a:r>
              <a:t>- no automatic trading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bot must only support these symbols: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SPY</a:t>
            </a:r>
          </a:p>
          <a:p xmlns:a="http://schemas.openxmlformats.org/drawingml/2006/main">
            <a:r>
              <a:t>- QQQ</a:t>
            </a:r>
          </a:p>
          <a:p xmlns:a="http://schemas.openxmlformats.org/drawingml/2006/main">
            <a:r>
              <a:t>- IWM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core alert settings: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Alert threshold: 80</a:t>
            </a:r>
          </a:p>
          <a:p xmlns:a="http://schemas.openxmlformats.org/drawingml/2006/main">
            <a:r>
              <a:t>- Alert timeframes: 15m, 30m, 1h</a:t>
            </a:r>
          </a:p>
          <a:p xmlns:a="http://schemas.openxmlformats.org/drawingml/2006/main">
            <a:r>
              <a:t>- Active scan cadence from config: 60 seconds</a:t>
            </a:r>
          </a:p>
          <a:p xmlns:a="http://schemas.openxmlformats.org/drawingml/2006/main">
            <a:r>
              <a:t>- Code default may remain 900 seconds if no config override is loaded, but the configured bot should use 60 seconds</a:t>
            </a:r>
          </a:p>
          <a:p xmlns:a="http://schemas.openxmlformats.org/drawingml/2006/main">
            <a:r>
              <a:t>- Bot market timezone: America/New_York</a:t>
            </a:r>
          </a:p>
          <a:p xmlns:a="http://schemas.openxmlformats.org/drawingml/2006/main">
            <a:r>
              <a:t>- Dashboard/display timezone: America/Los_Angeles</a:t>
            </a:r>
          </a:p>
          <a:p xmlns:a="http://schemas.openxmlformats.org/drawingml/2006/main">
            <a:r>
              <a:t>- Market-data window: premarket start 04:00 ET through after-hours end 20:00 ET</a:t>
            </a:r>
          </a:p>
          <a:p xmlns:a="http://schemas.openxmlformats.org/drawingml/2006/main">
            <a:r>
              <a:t>- Scanner should pause outside the configured market-data window and on non-trading days before fetching market data</a:t>
            </a:r>
          </a:p>
          <a:p xmlns:a="http://schemas.openxmlformats.org/drawingml/2006/main">
            <a:r>
              <a:t>- Stale data threshold: 7 minutes</a:t>
            </a:r>
          </a:p>
          <a:p xmlns:a="http://schemas.openxmlformats.org/drawingml/2006/main">
            <a:r>
              <a:t>- Duplicate cooldown: 90 minutes</a:t>
            </a:r>
          </a:p>
          <a:p xmlns:a="http://schemas.openxmlformats.org/drawingml/2006/main">
            <a:r>
              <a:t>- Symbol cooldown: 30 minutes</a:t>
            </a:r>
          </a:p>
          <a:p xmlns:a="http://schemas.openxmlformats.org/drawingml/2006/main">
            <a:r>
              <a:t>- Core max alerts per symbol per day: 3</a:t>
            </a:r>
          </a:p>
          <a:p xmlns:a="http://schemas.openxmlformats.org/drawingml/2006/main">
            <a:r>
              <a:t>- Manual review required before any trade decision</a:t>
            </a:r>
          </a:p>
          <a:p xmlns:a="http://schemas.openxmlformats.org/drawingml/2006/main">
            <a:r>
              <a:t>- Alerts are decision-support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bot should include a main alert workflow plus a separate parallel Carter Squeeze signal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Core signal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Score alerts from market conditions</a:t>
            </a:r>
          </a:p>
          <a:p xmlns:a="http://schemas.openxmlformats.org/drawingml/2006/main">
            <a:r>
              <a:t>- Require explainable reasons for each alert</a:t>
            </a:r>
          </a:p>
          <a:p xmlns:a="http://schemas.openxmlformats.org/drawingml/2006/main">
            <a:r>
              <a:t>- Include confidence/score output</a:t>
            </a:r>
          </a:p>
          <a:p xmlns:a="http://schemas.openxmlformats.org/drawingml/2006/main">
            <a:r>
              <a:t>- Include risk flags</a:t>
            </a:r>
          </a:p>
          <a:p xmlns:a="http://schemas.openxmlformats.org/drawingml/2006/main">
            <a:r>
              <a:t>- Include symbol, direction, timeframe, setup type, entry context, stop/risk context, and target/risk-reward context when available</a:t>
            </a:r>
          </a:p>
          <a:p xmlns:a="http://schemas.openxmlformats.org/drawingml/2006/main">
            <a:r>
              <a:t>- Require 80+ confidence/score before alerting</a:t>
            </a:r>
          </a:p>
          <a:p xmlns:a="http://schemas.openxmlformats.org/drawingml/2006/main">
            <a:r>
              <a:t>- Hard blockers can still prevent an alert even if the score reaches 80</a:t>
            </a:r>
          </a:p>
          <a:p xmlns:a="http://schemas.openxmlformats.org/drawingml/2006/main">
            <a:r>
              <a:t>- Use no-trade, watch-only, and alert-ready statuses</a:t>
            </a:r>
          </a:p>
          <a:p xmlns:a="http://schemas.openxmlformats.org/drawingml/2006/main">
            <a:r>
              <a:t>- Rank alertable setup records and send only the highest-priority eligible setup per source/symbol scan cycle</a:t>
            </a:r>
          </a:p>
          <a:p xmlns:a="http://schemas.openxmlformats.org/drawingml/2006/main">
            <a:r>
              <a:t>- Suppress lower-priority alertable setup records as watch-only/no-trade notes instead of blasting every candidate</a:t>
            </a:r>
          </a:p>
          <a:p xmlns:a="http://schemas.openxmlformats.org/drawingml/2006/main">
            <a:r>
              <a:t>- Preserve source labels so alerts, paper results, replay results, and dashboard stats can separate the core bot from Carter Squeeze</a:t>
            </a:r>
          </a:p>
          <a:p xmlns:a="http://schemas.openxmlformats.org/drawingml/2006/main">
            <a:r>
              <a:t>- Use `core_model` / `Core Model` labels for the main signal lane</a:t>
            </a:r>
          </a:p>
          <a:p xmlns:a="http://schemas.openxmlformats.org/drawingml/2006/main">
            <a:r>
              <a:t>- Capture 100-confidence core alerts into the live paper run/source named `live_100_alerts`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Carter Squeeze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Keep Carter Squeeze as a separate signal source, not mixed into the core bot</a:t>
            </a:r>
          </a:p>
          <a:p xmlns:a="http://schemas.openxmlformats.org/drawingml/2006/main">
            <a:r>
              <a:t>- Support SPY and QQQ for Carter Squeeze</a:t>
            </a:r>
          </a:p>
          <a:p xmlns:a="http://schemas.openxmlformats.org/drawingml/2006/main">
            <a:r>
              <a:t>- Use `carter_squeeze` / `Carter Squeeze` labels</a:t>
            </a:r>
          </a:p>
          <a:p xmlns:a="http://schemas.openxmlformats.org/drawingml/2006/main">
            <a:r>
              <a:t>- Use confirmation timeframes 30m and 1h</a:t>
            </a:r>
          </a:p>
          <a:p xmlns:a="http://schemas.openxmlformats.org/drawingml/2006/main">
            <a:r>
              <a:t>- Require all-index alignment using SPY, QQQ, and IWM</a:t>
            </a:r>
          </a:p>
          <a:p xmlns:a="http://schemas.openxmlformats.org/drawingml/2006/main">
            <a:r>
              <a:t>- Require tactical 1R path</a:t>
            </a:r>
          </a:p>
          <a:p xmlns:a="http://schemas.openxmlformats.org/drawingml/2006/main">
            <a:r>
              <a:t>- Use tactical exit multiple of 1.0R</a:t>
            </a:r>
          </a:p>
          <a:p xmlns:a="http://schemas.openxmlformats.org/drawingml/2006/main">
            <a:r>
              <a:t>- Require minimum risk/reward of 2.0</a:t>
            </a:r>
          </a:p>
          <a:p xmlns:a="http://schemas.openxmlformats.org/drawingml/2006/main">
            <a:r>
              <a:t>- Use Carter Squeeze max alerts per symbol per day: 2</a:t>
            </a:r>
          </a:p>
          <a:p xmlns:a="http://schemas.openxmlformats.org/drawingml/2006/main">
            <a:r>
              <a:t>- Use Carter Squeeze duplicate cooldown: 90 minutes</a:t>
            </a:r>
          </a:p>
          <a:p xmlns:a="http://schemas.openxmlformats.org/drawingml/2006/main">
            <a:r>
              <a:t>- Use Carter Squeeze symbol cooldown: 30 minutes</a:t>
            </a:r>
          </a:p>
          <a:p xmlns:a="http://schemas.openxmlformats.org/drawingml/2006/main">
            <a:r>
              <a:t>- Preserve the 80+ alert threshold</a:t>
            </a:r>
          </a:p>
          <a:p xmlns:a="http://schemas.openxmlformats.org/drawingml/2006/main">
            <a:r>
              <a:t>- Make it removable and clearly labeled</a:t>
            </a:r>
          </a:p>
          <a:p xmlns:a="http://schemas.openxmlformats.org/drawingml/2006/main">
            <a:r>
              <a:t>- Capture Carter Squeeze paper tracking separately when implemented, using a separate live/paper source such as `live_carter_squeeze`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strategy and scoring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Keep excluded setup types out of the main alert stream:</a:t>
            </a:r>
          </a:p>
          <a:p xmlns:a="http://schemas.openxmlformats.org/drawingml/2006/main">
            <a:r>
              <a:t>  - VWAP reclaim + retest</a:t>
            </a:r>
          </a:p>
          <a:p xmlns:a="http://schemas.openxmlformats.org/drawingml/2006/main">
            <a:r>
              <a:t>  - VWAP rejection + retest</a:t>
            </a:r>
          </a:p>
          <a:p xmlns:a="http://schemas.openxmlformats.org/drawingml/2006/main">
            <a:r>
              <a:t>- Block weak SPY VWAP reclaim longs</a:t>
            </a:r>
          </a:p>
          <a:p xmlns:a="http://schemas.openxmlformats.org/drawingml/2006/main">
            <a:r>
              <a:t>- Use strict index alignment for core alerts with SPY and QQQ</a:t>
            </a:r>
          </a:p>
          <a:p xmlns:a="http://schemas.openxmlformats.org/drawingml/2006/main">
            <a:r>
              <a:t>- For standalone level breaks, require a trending market condition and alignment across SPY, QQQ, and IWM</a:t>
            </a:r>
          </a:p>
          <a:p xmlns:a="http://schemas.openxmlformats.org/drawingml/2006/main">
            <a:r>
              <a:t>- Use VWAP quality checks for VWAP-related candidates</a:t>
            </a:r>
          </a:p>
          <a:p xmlns:a="http://schemas.openxmlformats.org/drawingml/2006/main">
            <a:r>
              <a:t>- Use opening-noise protection around weak VWAP setups</a:t>
            </a:r>
          </a:p>
          <a:p xmlns:a="http://schemas.openxmlformats.org/drawingml/2006/main">
            <a:r>
              <a:t>- Penalize weak volume, chop, overextension, stale data, conflicting timeframes, poor risk/reward, weak VWAP quality, VWAP whipsaw, momentum continuation risk, and standalone level-break risk</a:t>
            </a:r>
          </a:p>
          <a:p xmlns:a="http://schemas.openxmlformats.org/drawingml/2006/main">
            <a:r>
              <a:t>- Allow fast-momentum and all-index trend-continuation overrides only when the configured confirmation requirements are met</a:t>
            </a:r>
          </a:p>
          <a:p xmlns:a="http://schemas.openxmlformats.org/drawingml/2006/main">
            <a:r>
              <a:t>- Allow the midday momentum exception only when volume expansion, range expansion, recent move, market confirmation, and timeframe alignment meet the configured thresholds</a:t>
            </a:r>
          </a:p>
          <a:p xmlns:a="http://schemas.openxmlformats.org/drawingml/2006/main">
            <a:r>
              <a:t>- Alert-ready means eligible for human review only; it does not mean trade 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Research/risk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Research can be enabled</a:t>
            </a:r>
          </a:p>
          <a:p xmlns:a="http://schemas.openxmlformats.org/drawingml/2006/main">
            <a:r>
              <a:t>- Research may be required for alerts</a:t>
            </a:r>
          </a:p>
          <a:p xmlns:a="http://schemas.openxmlformats.org/drawingml/2006/main">
            <a:r>
              <a:t>- If research is required, alerts should respect the research risk gate</a:t>
            </a:r>
          </a:p>
          <a:p xmlns:a="http://schemas.openxmlformats.org/drawingml/2006/main">
            <a:r>
              <a:t>- Hard-block risk score: 65</a:t>
            </a:r>
          </a:p>
          <a:p xmlns:a="http://schemas.openxmlformats.org/drawingml/2006/main">
            <a:r>
              <a:t>- Caution risk score: 40</a:t>
            </a:r>
          </a:p>
          <a:p xmlns:a="http://schemas.openxmlformats.org/drawingml/2006/main">
            <a:r>
              <a:t>- Caution penalty: -8</a:t>
            </a:r>
          </a:p>
          <a:p xmlns:a="http://schemas.openxmlformats.org/drawingml/2006/main">
            <a:r>
              <a:t>- Hard-block penalty: -30</a:t>
            </a:r>
          </a:p>
          <a:p xmlns:a="http://schemas.openxmlformats.org/drawingml/2006/main">
            <a:r>
              <a:t>- Bias-conflict penalty: -6</a:t>
            </a:r>
          </a:p>
          <a:p xmlns:a="http://schemas.openxmlformats.org/drawingml/2006/main">
            <a:r>
              <a:t>- Research phases: premarket, morning, midday, eod</a:t>
            </a:r>
          </a:p>
          <a:p xmlns:a="http://schemas.openxmlformats.org/drawingml/2006/main">
            <a:r>
              <a:t>- Research phase times:</a:t>
            </a:r>
          </a:p>
          <a:p xmlns:a="http://schemas.openxmlformats.org/drawingml/2006/main">
            <a:r>
              <a:t>  - premarket: 08:15</a:t>
            </a:r>
          </a:p>
          <a:p xmlns:a="http://schemas.openxmlformats.org/drawingml/2006/main">
            <a:r>
              <a:t>  - morning: 10:00</a:t>
            </a:r>
          </a:p>
          <a:p xmlns:a="http://schemas.openxmlformats.org/drawingml/2006/main">
            <a:r>
              <a:t>  - midday: 12:00</a:t>
            </a:r>
          </a:p>
          <a:p xmlns:a="http://schemas.openxmlformats.org/drawingml/2006/main">
            <a:r>
              <a:t>  - eod: 16:10</a:t>
            </a:r>
          </a:p>
          <a:p xmlns:a="http://schemas.openxmlformats.org/drawingml/2006/main">
            <a:r>
              <a:t>- Use shared research phase constants instead of hard-coded phase lists</a:t>
            </a:r>
          </a:p>
          <a:p xmlns:a="http://schemas.openxmlformats.org/drawingml/2006/main">
            <a:r>
              <a:t>- If same-day research is required but missing, the scanner should block alerts and explain the missing research brief</a:t>
            </a:r>
          </a:p>
          <a:p xmlns:a="http://schemas.openxmlformats.org/drawingml/2006/main">
            <a:r>
              <a:t>- Research can block or penalize alerts, but research must not create alerts without a valid chart/setup candidate</a:t>
            </a:r>
          </a:p>
          <a:p xmlns:a="http://schemas.openxmlformats.org/drawingml/2006/main">
            <a:r>
              <a:t>- AI summaries and confidence scores are explanation/decision-support only</a:t>
            </a:r>
          </a:p>
          <a:p xmlns:a="http://schemas.openxmlformats.org/drawingml/2006/main">
            <a:r>
              <a:t>- Do not present AI output as trading authority</a:t>
            </a:r>
          </a:p>
          <a:p xmlns:a="http://schemas.openxmlformats.org/drawingml/2006/main">
            <a:r>
              <a:t>- Keep OpenAI/API summaries disabled by default unless the owner explicitly enables that path</a:t>
            </a:r>
          </a:p>
          <a:p xmlns:a="http://schemas.openxmlformats.org/drawingml/2006/main">
            <a:r>
              <a:t>- Do not require an OpenAI Platform account, OpenAI API key, or OpenAI API call for Session 1 or for the default local build</a:t>
            </a:r>
          </a:p>
          <a:p xmlns:a="http://schemas.openxmlformats.org/drawingml/2006/main">
            <a:r>
              <a:t>- Use deterministic/local fallback summary behavior when AI/API summaries are unavailable or disabled</a:t>
            </a:r>
          </a:p>
          <a:p xmlns:a="http://schemas.openxmlformats.org/drawingml/2006/main">
            <a:r>
              <a:t>- Do not invent external API requirements that are not needed by the current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Optional services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Telegram alerts are optional/configured only</a:t>
            </a:r>
          </a:p>
          <a:p xmlns:a="http://schemas.openxmlformats.org/drawingml/2006/main">
            <a:r>
              <a:t>- Telegram send attempts should be bounded by config, with max attempts 3 and retry delay 1 second</a:t>
            </a:r>
          </a:p>
          <a:p xmlns:a="http://schemas.openxmlformats.org/drawingml/2006/main">
            <a:r>
              <a:t>- Gmail/email delivery for research summaries is optional/configured only</a:t>
            </a:r>
          </a:p>
          <a:p xmlns:a="http://schemas.openxmlformats.org/drawingml/2006/main">
            <a:r>
              <a:t>- Alpha Vantage and other data-provider credentials are optional placeholders only unless the owner explicitly enables that path</a:t>
            </a:r>
          </a:p>
          <a:p xmlns:a="http://schemas.openxmlformats.org/drawingml/2006/main">
            <a:r>
              <a:t>- Do not send Telegram messages or emails during setup unless explicitly approved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Paper/replay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Paper validation is educational evidence only</a:t>
            </a:r>
          </a:p>
          <a:p xmlns:a="http://schemas.openxmlformats.org/drawingml/2006/main">
            <a:r>
              <a:t>- Replay validation is educational evidence only</a:t>
            </a:r>
          </a:p>
          <a:p xmlns:a="http://schemas.openxmlformats.org/drawingml/2006/main">
            <a:r>
              <a:t>- Do not claim proof of profitability</a:t>
            </a:r>
          </a:p>
          <a:p xmlns:a="http://schemas.openxmlformats.org/drawingml/2006/main">
            <a:r>
              <a:t>- Support source-aware paper tracking where possible</a:t>
            </a:r>
          </a:p>
          <a:p xmlns:a="http://schemas.openxmlformats.org/drawingml/2006/main">
            <a:r>
              <a:t>- Support source-aware replay summaries where possible</a:t>
            </a:r>
          </a:p>
          <a:p xmlns:a="http://schemas.openxmlformats.org/drawingml/2006/main">
            <a:r>
              <a:t>- Keep live/paper tracking source-aware so core 100-confidence alerts and Carter Squeeze can be evaluated separately</a:t>
            </a:r>
          </a:p>
          <a:p xmlns:a="http://schemas.openxmlformats.org/drawingml/2006/main">
            <a:r>
              <a:t>- Store enough alert/setup detail for later review without implying trade execution</a:t>
            </a:r>
          </a:p>
          <a:p xmlns:a="http://schemas.openxmlformats.org/drawingml/2006/main">
            <a:r>
              <a:t>- Keep manual review in the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Dashboard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Build a Streamlit dashboard that lets a user review alerts manually</a:t>
            </a:r>
          </a:p>
          <a:p xmlns:a="http://schemas.openxmlformats.org/drawingml/2006/main">
            <a:r>
              <a:t>- Show alert details clearly</a:t>
            </a:r>
          </a:p>
          <a:p xmlns:a="http://schemas.openxmlformats.org/drawingml/2006/main">
            <a:r>
              <a:t>- Show signal source labels</a:t>
            </a:r>
          </a:p>
          <a:p xmlns:a="http://schemas.openxmlformats.org/drawingml/2006/main">
            <a:r>
              <a:t>- Show confidence/score</a:t>
            </a:r>
          </a:p>
          <a:p xmlns:a="http://schemas.openxmlformats.org/drawingml/2006/main">
            <a:r>
              <a:t>- Show reasons and risk notes</a:t>
            </a:r>
          </a:p>
          <a:p xmlns:a="http://schemas.openxmlformats.org/drawingml/2006/main">
            <a:r>
              <a:t>- Show no-trade/watch-only/alert-ready state clearly</a:t>
            </a:r>
          </a:p>
          <a:p xmlns:a="http://schemas.openxmlformats.org/drawingml/2006/main">
            <a:r>
              <a:t>- Show research decision, risk score, phase, and source status when available</a:t>
            </a:r>
          </a:p>
          <a:p xmlns:a="http://schemas.openxmlformats.org/drawingml/2006/main">
            <a:r>
              <a:t>- Show market-data freshness and scanner heartbeat/paused state when available</a:t>
            </a:r>
          </a:p>
          <a:p xmlns:a="http://schemas.openxmlformats.org/drawingml/2006/main">
            <a:r>
              <a:t>- Show paper/replay summaries where available</a:t>
            </a:r>
          </a:p>
          <a:p xmlns:a="http://schemas.openxmlformats.org/drawingml/2006/main">
            <a:r>
              <a:t>- Keep the UI clean, readable, and beginner-friendly</a:t>
            </a:r>
          </a:p>
          <a:p xmlns:a="http://schemas.openxmlformats.org/drawingml/2006/main">
            <a:r>
              <a:t>- Do not make the dashboard look like a broker execution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Safety expectations: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Never place real trades</a:t>
            </a:r>
          </a:p>
          <a:p xmlns:a="http://schemas.openxmlformats.org/drawingml/2006/main">
            <a:r>
              <a:t>- Never connect to a broker</a:t>
            </a:r>
          </a:p>
          <a:p xmlns:a="http://schemas.openxmlformats.org/drawingml/2006/main">
            <a:r>
              <a:t>- Never auto-execute anything</a:t>
            </a:r>
          </a:p>
          <a:p xmlns:a="http://schemas.openxmlformats.org/drawingml/2006/main">
            <a:r>
              <a:t>- Never promise profits</a:t>
            </a:r>
          </a:p>
          <a:p xmlns:a="http://schemas.openxmlformats.org/drawingml/2006/main">
            <a:r>
              <a:t>- Never tell the user what to buy or sell</a:t>
            </a:r>
          </a:p>
          <a:p xmlns:a="http://schemas.openxmlformats.org/drawingml/2006/main">
            <a:r>
              <a:t>- Always frame the system as educational alert software and decision support</a:t>
            </a:r>
          </a:p>
          <a:p xmlns:a="http://schemas.openxmlformats.org/drawingml/2006/main">
            <a:r>
              <a:t>- Do not expose secrets</a:t>
            </a:r>
          </a:p>
          <a:p xmlns:a="http://schemas.openxmlformats.org/drawingml/2006/main">
            <a:r>
              <a:t>- Do not print .env values</a:t>
            </a:r>
          </a:p>
          <a:p xmlns:a="http://schemas.openxmlformats.org/drawingml/2006/main">
            <a:r>
              <a:t>- Do not commit credentials</a:t>
            </a:r>
          </a:p>
          <a:p xmlns:a="http://schemas.openxmlformats.org/drawingml/2006/main">
            <a:r>
              <a:t>- Include owner-facing warnings for .env files, saved credentials, deploy keys, Telegram tokens, Gmail credentials, and anything else that should be rotated before sharing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this conservatively.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add broker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add Robinhood.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add automatic trading.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add automatic live rule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make claims of profitability.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make the bot trade options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real secrets in code or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read or print .env secret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call external services during setup unless explicitly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run commands that send Telegram messages, emails, market scans, backfills, replay jobs, or live dashboards unless explicitly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overwrite unrelated existing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changes scoped to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clear file organization.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tests for risky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Prefer simple Python modules over over-engineering.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Preserve the alert-only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Separate verified facts from assumptions in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source labels for parallel signal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Carter Squeeze separate from the core 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SQLite for local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Streamlit for the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yfinance for market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pytest for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DONE WHEN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project has a working educational alert-only bot structure with: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Python package layout</a:t>
            </a:r>
          </a:p>
          <a:p xmlns:a="http://schemas.openxmlformats.org/drawingml/2006/main">
            <a:r>
              <a:t>- Config file for symbols, thresholds, timeframes, cadence, research gates, and signal-source settings</a:t>
            </a:r>
          </a:p>
          <a:p xmlns:a="http://schemas.openxmlformats.org/drawingml/2006/main">
            <a:r>
              <a:t>- SPY/QQQ/IWM-only universe</a:t>
            </a:r>
          </a:p>
          <a:p xmlns:a="http://schemas.openxmlformats.org/drawingml/2006/main">
            <a:r>
              <a:t>- Alert threshold set to 80</a:t>
            </a:r>
          </a:p>
          <a:p xmlns:a="http://schemas.openxmlformats.org/drawingml/2006/main">
            <a:r>
              <a:t>- Timeframes set to 15m, 30m, and 1h</a:t>
            </a:r>
          </a:p>
          <a:p xmlns:a="http://schemas.openxmlformats.org/drawingml/2006/main">
            <a:r>
              <a:t>- Active configured scan cadence set to 60 seconds</a:t>
            </a:r>
          </a:p>
          <a:p xmlns:a="http://schemas.openxmlformats.org/drawingml/2006/main">
            <a:r>
              <a:t>- Manual-review-only alert workflow</a:t>
            </a:r>
          </a:p>
          <a:p xmlns:a="http://schemas.openxmlformats.org/drawingml/2006/main">
            <a:r>
              <a:t>- No broker execution</a:t>
            </a:r>
          </a:p>
          <a:p xmlns:a="http://schemas.openxmlformats.org/drawingml/2006/main">
            <a:r>
              <a:t>- No Robinhood</a:t>
            </a:r>
          </a:p>
          <a:p xmlns:a="http://schemas.openxmlformats.org/drawingml/2006/main">
            <a:r>
              <a:t>- No automatic trading</a:t>
            </a:r>
          </a:p>
          <a:p xmlns:a="http://schemas.openxmlformats.org/drawingml/2006/main">
            <a:r>
              <a:t>- Scanner pauses outside the configured market-data window and on non-trading days</a:t>
            </a:r>
          </a:p>
          <a:p xmlns:a="http://schemas.openxmlformats.org/drawingml/2006/main">
            <a:r>
              <a:t>- Core alert scoring module</a:t>
            </a:r>
          </a:p>
          <a:p xmlns:a="http://schemas.openxmlformats.org/drawingml/2006/main">
            <a:r>
              <a:t>- Separate Carter Squeeze signal-source module</a:t>
            </a:r>
          </a:p>
          <a:p xmlns:a="http://schemas.openxmlformats.org/drawingml/2006/main">
            <a:r>
              <a:t>- Source-aware alert storage</a:t>
            </a:r>
          </a:p>
          <a:p xmlns:a="http://schemas.openxmlformats.org/drawingml/2006/main">
            <a:r>
              <a:t>- Core max alert cap of 3 per symbol per day</a:t>
            </a:r>
          </a:p>
          <a:p xmlns:a="http://schemas.openxmlformats.org/drawingml/2006/main">
            <a:r>
              <a:t>- Carter Squeeze max alert cap of 2 per symbol per day</a:t>
            </a:r>
          </a:p>
          <a:p xmlns:a="http://schemas.openxmlformats.org/drawingml/2006/main">
            <a:r>
              <a:t>- Duplicate cooldown of 90 minutes</a:t>
            </a:r>
          </a:p>
          <a:p xmlns:a="http://schemas.openxmlformats.org/drawingml/2006/main">
            <a:r>
              <a:t>- Symbol cooldown of 30 minutes</a:t>
            </a:r>
          </a:p>
          <a:p xmlns:a="http://schemas.openxmlformats.org/drawingml/2006/main">
            <a:r>
              <a:t>- Ranked alert selection so only the highest-priority eligible setup is sent per source/symbol scan cycle</a:t>
            </a:r>
          </a:p>
          <a:p xmlns:a="http://schemas.openxmlformats.org/drawingml/2006/main">
            <a:r>
              <a:t>- Live paper capture for 100-confidence core alerts under `live_100_alerts`</a:t>
            </a:r>
          </a:p>
          <a:p xmlns:a="http://schemas.openxmlformats.org/drawingml/2006/main">
            <a:r>
              <a:t>- Source-aware paper/replay reporting where practical</a:t>
            </a:r>
          </a:p>
          <a:p xmlns:a="http://schemas.openxmlformats.org/drawingml/2006/main">
            <a:r>
              <a:t>- SQLite persistence</a:t>
            </a:r>
          </a:p>
          <a:p xmlns:a="http://schemas.openxmlformats.org/drawingml/2006/main">
            <a:r>
              <a:t>- Streamlit dashboard</a:t>
            </a:r>
          </a:p>
          <a:p xmlns:a="http://schemas.openxmlformats.org/drawingml/2006/main">
            <a:r>
              <a:t>- Telegram alert support as optional/configured only</a:t>
            </a:r>
          </a:p>
          <a:p xmlns:a="http://schemas.openxmlformats.org/drawingml/2006/main">
            <a:r>
              <a:t>- Research/risk gate support with premarket, morning, midday, and eod phases</a:t>
            </a:r>
          </a:p>
          <a:p xmlns:a="http://schemas.openxmlformats.org/drawingml/2006/main">
            <a:r>
              <a:t>- Research phase times set to 08:15, 10:00, 12:00, and 16:10</a:t>
            </a:r>
          </a:p>
          <a:p xmlns:a="http://schemas.openxmlformats.org/drawingml/2006/main">
            <a:r>
              <a:t>- Same-day research-required blocking behavior when enabled</a:t>
            </a:r>
          </a:p>
          <a:p xmlns:a="http://schemas.openxmlformats.org/drawingml/2006/main">
            <a:r>
              <a:t>- OpenAI/API summaries disabled by default unless explicitly enabled</a:t>
            </a:r>
          </a:p>
          <a:p xmlns:a="http://schemas.openxmlformats.org/drawingml/2006/main">
            <a:r>
              <a:t>- Local/deterministic research-summary fallback behavior where practical</a:t>
            </a:r>
          </a:p>
          <a:p xmlns:a="http://schemas.openxmlformats.org/drawingml/2006/main">
            <a:r>
              <a:t>- Gmail/email research-summary support only if configured</a:t>
            </a:r>
          </a:p>
          <a:p xmlns:a="http://schemas.openxmlformats.org/drawingml/2006/main">
            <a:r>
              <a:t>- Safety disclaimers in docs</a:t>
            </a:r>
          </a:p>
          <a:p xmlns:a="http://schemas.openxmlformats.org/drawingml/2006/main">
            <a:r>
              <a:t>- Secrets warnings in docs</a:t>
            </a:r>
          </a:p>
          <a:p xmlns:a="http://schemas.openxmlformats.org/drawingml/2006/main">
            <a:r>
              <a:t>- Tests for scoring, source labeling, Carter Squeeze behavior, research phase mapping, scanner market-window pause behavior, and key safety constraints</a:t>
            </a:r>
          </a:p>
          <a:p xmlns:a="http://schemas.openxmlformats.org/drawingml/2006/main">
            <a:r>
              <a:t>- README explaining setup, manual workflow, and safety boundaries</a:t>
            </a:r>
          </a:p>
          <a:p xmlns:a="http://schemas.openxmlformats.org/drawingml/2006/main">
            <a:r>
              <a:t>- Troubleshooting notes</a:t>
            </a:r>
          </a:p>
          <a:p xmlns:a="http://schemas.openxmlformats.org/drawingml/2006/main">
            <a:r>
              <a:t>- Clear statement that replay and paper validation are educational evidence, not proof of profitability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finishing, provide a final verification checklist. Each item must be marked either YES - VERIFIED or NO - NOT VERIFIED. If anything is not verified, explain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verification checklist: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YES - VERIFIED: The bot remains alert-only</a:t>
            </a:r>
          </a:p>
          <a:p xmlns:a="http://schemas.openxmlformats.org/drawingml/2006/main">
            <a:r>
              <a:t>- YES - VERIFIED: No broker execution code was added</a:t>
            </a:r>
          </a:p>
          <a:p xmlns:a="http://schemas.openxmlformats.org/drawingml/2006/main">
            <a:r>
              <a:t>- YES - VERIFIED: No real secrets were printed or copied</a:t>
            </a:r>
          </a:p>
          <a:p xmlns:a="http://schemas.openxmlformats.org/drawingml/2006/main">
            <a:r>
              <a:t>- YES - VERIFIED: SPY, QQQ, and IWM are the only supported symbols</a:t>
            </a:r>
          </a:p>
          <a:p xmlns:a="http://schemas.openxmlformats.org/drawingml/2006/main">
            <a:r>
              <a:t>- YES - VERIFIED: Alert threshold is 80</a:t>
            </a:r>
          </a:p>
          <a:p xmlns:a="http://schemas.openxmlformats.org/drawingml/2006/main">
            <a:r>
              <a:t>- YES - VERIFIED: Alert timeframes are 15m, 30m, and 1h</a:t>
            </a:r>
          </a:p>
          <a:p xmlns:a="http://schemas.openxmlformats.org/drawingml/2006/main">
            <a:r>
              <a:t>- YES - VERIFIED: Configured scanner cadence is 60 seconds</a:t>
            </a:r>
          </a:p>
          <a:p xmlns:a="http://schemas.openxmlformats.org/drawingml/2006/main">
            <a:r>
              <a:t>- YES - VERIFIED: Scanner pauses outside the configured market-data window before fetching market data</a:t>
            </a:r>
          </a:p>
          <a:p xmlns:a="http://schemas.openxmlformats.org/drawingml/2006/main">
            <a:r>
              <a:t>- YES - VERIFIED: Core alert cap is 3 per symbol per day</a:t>
            </a:r>
          </a:p>
          <a:p xmlns:a="http://schemas.openxmlformats.org/drawingml/2006/main">
            <a:r>
              <a:t>- YES - VERIFIED: Carter Squeeze alert cap is 2 per symbol per day</a:t>
            </a:r>
          </a:p>
          <a:p xmlns:a="http://schemas.openxmlformats.org/drawingml/2006/main">
            <a:r>
              <a:t>- YES - VERIFIED: Carter Squeeze is separate and source-labeled</a:t>
            </a:r>
          </a:p>
          <a:p xmlns:a="http://schemas.openxmlformats.org/drawingml/2006/main">
            <a:r>
              <a:t>- YES - VERIFIED: Research gates include premarket, morning, midday, and eod phases</a:t>
            </a:r>
          </a:p>
          <a:p xmlns:a="http://schemas.openxmlformats.org/drawingml/2006/main">
            <a:r>
              <a:t>- YES - VERIFIED: OpenAI/API summaries are not required for the default local build</a:t>
            </a:r>
          </a:p>
          <a:p xmlns:a="http://schemas.openxmlformats.org/drawingml/2006/main">
            <a:r>
              <a:t>- YES - VERIFIED: Live 100-confidence core paper capture is source-labeled</a:t>
            </a:r>
          </a:p>
          <a:p xmlns:a="http://schemas.openxmlformats.org/drawingml/2006/main">
            <a:r>
              <a:t>- YES - VERIFIED: Dashboard shows manual-review information clearly</a:t>
            </a:r>
          </a:p>
          <a:p xmlns:a="http://schemas.openxmlformats.org/drawingml/2006/main">
            <a:r>
              <a:t>- YES - VERIFIED: Tests pass or skipped tests are clearly explained</a:t>
            </a:r>
          </a:p>
          <a:p xmlns:a="http://schemas.openxmlformats.org/drawingml/2006/main">
            <a:r>
              <a:t>- YES - VERIFIED: External-service commands were skipped unless explicitly approved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COPY/PASTE 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plain sentence: candidate first, alert later, and alert never means automatic trade.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a live checklist. If Codex leaves out Carter Squeeze source labels or the 60-second configured cadence, have students ask for a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DOD review prompt: Review the student's Session 1 Thread A output against the Done Definition. Return PASS, FIX, or BLOCKED. Be strict. End with: This system is alert-only and does not place trades.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next sessions without turning Session 1 into implementation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save the Project Plan output. Close by repeating: this system is alert-only and does not place trades.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d24bef7174c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5f71112e804bc4" /><Relationship Type="http://schemas.openxmlformats.org/officeDocument/2006/relationships/slideLayout" Target="/ppt/slideLayouts/slideLayout1.xml" Id="R97ce60c5f5d445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ce60c5f5d445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4bc505bd44718" /><Relationship Type="http://schemas.openxmlformats.org/officeDocument/2006/relationships/image" Target="/ppt/media/image.png" Id="R7d3c14a5f29841f8" /><Relationship Type="http://schemas.openxmlformats.org/officeDocument/2006/relationships/notesSlide" Target="/ppt/notesSlides/notesSlide1.xml" Id="R4f5ab77f4b62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11f131a214876" /><Relationship Type="http://schemas.openxmlformats.org/officeDocument/2006/relationships/notesSlide" Target="/ppt/notesSlides/notesSlide2.xml" Id="R40c78b5504fb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39347fac244a6" /><Relationship Type="http://schemas.openxmlformats.org/officeDocument/2006/relationships/notesSlide" Target="/ppt/notesSlides/notesSlide3.xml" Id="R0540c2e63c6148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7e7aef23642bd" /><Relationship Type="http://schemas.openxmlformats.org/officeDocument/2006/relationships/notesSlide" Target="/ppt/notesSlides/notesSlide4.xml" Id="R94cd5c81eb2541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b63963dda480f" /><Relationship Type="http://schemas.openxmlformats.org/officeDocument/2006/relationships/image" Target="/ppt/media/image.svg" Id="Rf69465d3d2444dbc" /><Relationship Type="http://schemas.openxmlformats.org/officeDocument/2006/relationships/image" Target="/ppt/media/image.png" Id="R2fa62e33c8b04531" /><Relationship Type="http://schemas.openxmlformats.org/officeDocument/2006/relationships/image" Target="/ppt/media/image2.png" Id="R5fb2aca41b2c49ce" /><Relationship Type="http://schemas.openxmlformats.org/officeDocument/2006/relationships/image" Target="/ppt/media/image2.svg" Id="R3e79317cd9f84692" /><Relationship Type="http://schemas.openxmlformats.org/officeDocument/2006/relationships/image" Target="/ppt/media/image3.png" Id="R15b42538313b46ec" /><Relationship Type="http://schemas.openxmlformats.org/officeDocument/2006/relationships/image" Target="/ppt/media/image3.svg" Id="R19a11195a7f1488d" /><Relationship Type="http://schemas.openxmlformats.org/officeDocument/2006/relationships/image" Target="/ppt/media/image4.png" Id="R0537843d9956447b" /><Relationship Type="http://schemas.openxmlformats.org/officeDocument/2006/relationships/image" Target="/ppt/media/image4.svg" Id="Ref48b0dcfab9400c" /><Relationship Type="http://schemas.openxmlformats.org/officeDocument/2006/relationships/notesSlide" Target="/ppt/notesSlides/notesSlide5.xml" Id="Re7736ce5b70d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0c14619a145a7" /><Relationship Type="http://schemas.openxmlformats.org/officeDocument/2006/relationships/image" Target="/ppt/media/image5.png" Id="Rd720c031c1214bc0" /><Relationship Type="http://schemas.openxmlformats.org/officeDocument/2006/relationships/notesSlide" Target="/ppt/notesSlides/notesSlide6.xml" Id="Rc6f9ed1891cd49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837da4d4c4c96" /><Relationship Type="http://schemas.openxmlformats.org/officeDocument/2006/relationships/notesSlide" Target="/ppt/notesSlides/notesSlide7.xml" Id="R81161b1ea78840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e44b6134e472e" /><Relationship Type="http://schemas.openxmlformats.org/officeDocument/2006/relationships/notesSlide" Target="/ppt/notesSlides/notesSlide8.xml" Id="R73adafc91c354c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0bcf36812410a" /><Relationship Type="http://schemas.openxmlformats.org/officeDocument/2006/relationships/notesSlide" Target="/ppt/notesSlides/notesSlide9.xml" Id="R5e9c4f1c323f48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6c45bffb44d68" /><Relationship Type="http://schemas.openxmlformats.org/officeDocument/2006/relationships/notesSlide" Target="/ppt/notesSlides/notesSlide10.xml" Id="R058b5c087ef84b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7bea51c9a4baf" /><Relationship Type="http://schemas.openxmlformats.org/officeDocument/2006/relationships/notesSlide" Target="/ppt/notesSlides/notesSlide11.xml" Id="Rfe0b2386fcb543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c9e87d9854577" /><Relationship Type="http://schemas.openxmlformats.org/officeDocument/2006/relationships/notesSlide" Target="/ppt/notesSlides/notesSlide12.xml" Id="R8d3693b6ef2f49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783c4728a494a" /><Relationship Type="http://schemas.openxmlformats.org/officeDocument/2006/relationships/image" Target="/ppt/media/image6.png" Id="Ra7f19d261bf34a2a" /><Relationship Type="http://schemas.openxmlformats.org/officeDocument/2006/relationships/notesSlide" Target="/ppt/notesSlides/notesSlide13.xml" Id="Rdeb8e7ccd9d54b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FFFA944-AA14-4F54-A5AE-537CC116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4F2C7-F961-43ED-A693-DE25859F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8F61273-D4F2-451E-B017-D1A757D7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0953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D83A05-E5F5-4784-8838-6347202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B824D-9E2B-47B8-BE36-9C2B55F0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Build the alert bot project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D4C7B-27BA-4938-A684-DA9F0A9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Today is the architecture and safety blueprint. We do not build or trade before the plan passes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3ECEE-4883-4128-AAD2-BAD1BADA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26C51-8E7F-4547-A0D7-8A83560A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B8719-E4ED-4F49-9A63-28E236E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0"/>
            <a:ext cx="3571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E171A"/>
          </a:solidFill>
          <a:ln xmlns:a="http://schemas.openxmlformats.org/drawingml/2006/main" w="9525">
            <a:solidFill>
              <a:srgbClr val="2032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64D64-2224-4F78-AD38-2B060D6B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62150"/>
            <a:ext cx="3267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F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FE0"/>
                </a:solidFill>
                <a:latin typeface="Aptos"/>
                <a:ea typeface="Aptos"/>
                <a:cs typeface="Aptos"/>
              </a:rPr>
              <a:t>The class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CBC23-F51F-4D41-BE8E-7FFA946F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05050"/>
            <a:ext cx="3267075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A reviewed Thread A Project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A safe folder/module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A settings contract for the current bot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A clean handoff into Session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EE6A4-F1DB-41D0-82B4-7E71D787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10150"/>
            <a:ext cx="1666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E98D9-DD09-420F-BB24-F249A9F3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24450"/>
            <a:ext cx="13620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86CA7-3E90-465E-9C21-E5D0EEE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00700"/>
            <a:ext cx="1362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minimum alert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5957B-75BE-4C66-8CE5-2E8B74F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0150"/>
            <a:ext cx="1762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EBFC3-634E-4143-943D-F5BDAF5A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24450"/>
            <a:ext cx="1457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60s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11B7E-C193-4E48-8130-D707CED6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00700"/>
            <a:ext cx="14573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configured scan cadence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c14a5f29841f8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42875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6F50E-4F87-4674-B0E6-FF8684CD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48350"/>
            <a:ext cx="708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The dashboard is the product target. The first build step is the plan.</a:t>
            </a:r>
          </a:p>
        </p:txBody>
      </p:sp>
    </p:spTree>
    <p:extLst>
      <p:ext uri="{BB962C8B-B14F-4D97-AF65-F5344CB8AC3E}">
        <p14:creationId xmlns:p14="http://schemas.microsoft.com/office/powerpoint/2010/main" val="7625810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8DE0851-C459-4A6B-B326-82337098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6606B-7414-44CB-AA63-6304E724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501289-69EA-45C3-9DF3-35796B06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9239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9FA7EA-321B-4DD7-8AE9-4DA7A449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600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171B8-23B2-4C88-8495-032B511A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Students leave with a reviewed blueprint.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43C57-961E-4A13-8BB7-FBA6B19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The work product is a plan Codex can safely build from later.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FD414-BEB8-46E4-90C9-2216F149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D8390-D4CC-409C-A5DF-867A413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B13C0-6F2C-4D2D-ABB7-A12C08D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3600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0C4E6-77B0-46D2-80C6-3C90F998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0502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Safety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8BD34-BAB9-4E4E-ACD7-9A484A3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47925"/>
            <a:ext cx="3295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Alert-only, no broker, no auto-trading, no profit promises.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0B037-F555-4E3F-BD14-AEDD0398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52625"/>
            <a:ext cx="3600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246CA-D665-4EF7-B8E2-55292A5E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0502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Architecture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4B7A4-5FA8-4397-A84A-3EFA4C2A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47925"/>
            <a:ext cx="3295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Modules, folders, config, storage, dashboard, tests.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E9368-6518-401E-89F1-E7DD32B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600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EADEE-B2D3-4A64-ADA6-C11542C3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0502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Current 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DF8FE-61D4-4AF6-B838-5B202786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3295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SPY/QQQ/IWM, 80 threshold, 15m/30m/1h, 60 seconds.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AF10D-39E6-4572-87BB-3FB7BE2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8075"/>
            <a:ext cx="3600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8A62B-8768-405B-B603-4F549CF2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0047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Signal lanes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B923D-BC9A-43C0-8978-AA77FDE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43375"/>
            <a:ext cx="3295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Core model and Carter Squeeze stay separate and source-labeled.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87F38-95CE-4AF2-AE62-A61B7C64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48075"/>
            <a:ext cx="3600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CEB21-3C17-4054-A4D3-8D291362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0047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Manual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87CC3-9DE1-4EC8-BE86-7EAE83D1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43375"/>
            <a:ext cx="3295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Candidate first, alert later, human review always.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6FFC3-8E7D-40C0-B9C9-D4704FD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48075"/>
            <a:ext cx="3600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B4BED-E511-4E79-847F-2FD35403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0047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Session 2 handoff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AF1A2-F2AE-4F68-A3AD-7639D6F1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3295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 plan ready for QA, replay, and paper validation.</a:t>
            </a:r>
          </a:p>
        </p:txBody>
      </p:sp>
    </p:spTree>
    <p:extLst>
      <p:ext uri="{BB962C8B-B14F-4D97-AF65-F5344CB8AC3E}">
        <p14:creationId xmlns:p14="http://schemas.microsoft.com/office/powerpoint/2010/main" val="21283453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96234C7-D44E-4F5E-8C8D-B8EFC707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BE56D-CED6-4544-A1D4-301CF896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9E99431-AC96-4EB1-87BA-01680BF7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5C93E3-A822-4067-A6DF-E1BBE41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B8225-03AA-40F4-BB39-F9CCFA0C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Use a blank student folder.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8642A-7A8A-4E6D-A5DB-0F7974DF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Students build their own class project on their own laptop. They do not receive or edit the instructor bot folder.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FAC50-3581-407F-B349-A560F51A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9B08A-32EF-4968-BE93-673657E5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7C245-074B-4FBD-8093-EA59A644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0"/>
            <a:ext cx="3714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E171A"/>
          </a:solidFill>
          <a:ln xmlns:a="http://schemas.openxmlformats.org/drawingml/2006/main" w="9525">
            <a:solidFill>
              <a:srgbClr val="2032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F684-41A3-4682-BEC2-8DF0C38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62150"/>
            <a:ext cx="3409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F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FE0"/>
                </a:solidFill>
                <a:latin typeface="Aptos"/>
                <a:ea typeface="Aptos"/>
                <a:cs typeface="Aptos"/>
              </a:rPr>
              <a:t>Why blank?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2E75A-7D2A-4AF2-8728-C421F70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05050"/>
            <a:ext cx="34099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It protects your live bot files, local databases, logs, .env files, saved credentials, and project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It also keeps each student from accidentally editing the wrong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A19D7-C572-4FDD-AC6E-4ACDA0C2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524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9DAEC-3B5D-44E7-849C-1AEF4A94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621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1. Create empty folder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E66F7-22C6-4CBE-A045-83EABB7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05050"/>
            <a:ext cx="3219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Desktop or Documents is fine.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AC7BC-4548-469E-B209-DE95025D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524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18973-99C6-4921-96B3-EB8DE5C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2. Open folder in Codex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7FE24-573D-434E-8320-E0F46F19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219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Use the student folder only.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6AED5-CBCF-4B8F-B3DE-4B6E1DEE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3524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A76A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DFD6E-6629-408F-B082-13F6E52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7190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3. Create Thread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DAECF-D7CB-4FB9-AA44-0B34E3A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14800"/>
            <a:ext cx="3219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Name it clearly for the project plan.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F0972-96B2-4B4F-A9EE-3017F9DF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524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CF33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8280B-EEDC-4E34-AA17-97F7AA8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4. Use Project Plan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BB6E5-DB51-4E8A-A79B-5533120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219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Review before any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E27B7-BF3B-4B46-A486-DD05166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19750"/>
            <a:ext cx="7286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Folder example: Desktop/options-alert-bot-student</a:t>
            </a:r>
          </a:p>
        </p:txBody>
      </p:sp>
    </p:spTree>
    <p:extLst>
      <p:ext uri="{BB962C8B-B14F-4D97-AF65-F5344CB8AC3E}">
        <p14:creationId xmlns:p14="http://schemas.microsoft.com/office/powerpoint/2010/main" val="9249420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EEDA975-B7EB-454D-ACF5-62EBBFA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F2297-19F6-4C88-A075-21B61D79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DE93F46-E827-42D4-AB56-10ABC3B9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181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6F61CD-EF9A-436F-AE8E-230533D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THREAD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62DF-0030-4911-B2DF-EFEA7BE2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Three threads keep the build clean.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153C9-F6B8-4B99-ABD2-DA0DA30F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Session 1 handles Thread A only. QA/paper trading and research come later.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88D09-6775-425A-B7BA-1E011A18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7C170-DF0D-4346-A3B3-C8E88871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A7444-A305-4B6C-9C1E-7FFA8AEB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3600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75B66-390C-41A7-BB4F-431D9CDC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0502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THREAD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76B7D-520F-4989-AFC6-50054D6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47925"/>
            <a:ext cx="32956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Build Alert Bot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Project Plan, safety contract, module map, settings contract, alert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EC53D-95E7-4C48-B474-6B57CA2B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72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B35AC-36C4-4778-88A5-F8A1A0D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52625"/>
            <a:ext cx="3600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7D114-ABAC-4B09-86B2-4AF42808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0502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THREAD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B4595-1F7E-4AB3-96F9-BA1EE52F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47925"/>
            <a:ext cx="32956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QA + Paper Trading Bot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Tests, replay, paper validation, source-aware reporting, dashboard QA.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C02DB-86C4-45A4-9AAA-68F117EC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72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Session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69B28-6F72-4C03-954D-A1D4D34F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600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A76A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1E6F6-74F2-42CD-BAEE-09EDA8E5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05025"/>
            <a:ext cx="3295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THREAD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2E216-E725-4961-A485-AAF3200C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32956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Build Market Research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Premarket/midday research brief, risk gates, summary delivery.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C7C49-A691-421C-BD24-36027675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Session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811A7-63CC-4546-929E-B5755148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0"/>
            <a:ext cx="1162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0418B8-9505-40B5-BA38-B12C712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76900"/>
            <a:ext cx="1131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Do not collapse the threads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F9599-18EA-4283-9035-B815432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19800"/>
            <a:ext cx="11315700" cy="-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Thread A produces the blueprint. Later threads use the blueprint instead of improvising over the live bot.</a:t>
            </a:r>
          </a:p>
        </p:txBody>
      </p:sp>
    </p:spTree>
    <p:extLst>
      <p:ext uri="{BB962C8B-B14F-4D97-AF65-F5344CB8AC3E}">
        <p14:creationId xmlns:p14="http://schemas.microsoft.com/office/powerpoint/2010/main" val="2154776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FF9B627-F67D-43A3-B364-A401ECD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5DF6C-FB39-44F8-893F-57D66F8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EDB0F8-B790-46BB-B259-59DA02C9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009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144C3F-A686-490B-8D6D-BCD7503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CE7C5-5B35-4B41-8113-F6EC5CD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Use careful Codex build settings.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337B6-9A64-4EFF-9C17-29D01EF2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These settings keep the first class slow enough to review and strong enough to plan well.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00DC-86AA-4F19-8523-768B41D3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E40AA-41BF-4DF1-920E-11F119AC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EAAF8-7981-4A15-90CE-15768ECF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FEA6B-4E23-4ADC-B2AB-FD7440B8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45241-24C2-4788-9C5F-4D60ABD8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521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GPT-5 or highest available Codex reasoning model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62e33c8b04531">
            <a:extLst>
              <a:ext uri="{96DAC541-7B7A-43D3-8B79-37D633B846F1}">
                <asvg:svgBlip xmlns:asvg="http://schemas.microsoft.com/office/drawing/2016/SVG/main" r:embed="Rf69465d3d2444d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0" y="2095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80E50-C8C2-41A1-AC4C-7E4DF313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C56CC-7336-4E2A-A862-74D2F5A3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Thinking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1E9D7-E18E-44D5-A614-DEC13A49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521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High reasoning for the plan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2aca41b2c49ce">
            <a:extLst>
              <a:ext uri="{96DAC541-7B7A-43D3-8B79-37D633B846F1}">
                <asvg:svgBlip xmlns:asvg="http://schemas.microsoft.com/office/drawing/2016/SVG/main" r:embed="R3e79317cd9f846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0" y="2095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A1B32-2659-4670-A4F0-887E6B73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5EAA0-798F-4E30-AEC7-8CD80A9D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045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EC5AB-0911-417A-8A49-C81B9391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521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Standard speed for class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42538313b46ec">
            <a:extLst>
              <a:ext uri="{96DAC541-7B7A-43D3-8B79-37D633B846F1}">
                <asvg:svgBlip xmlns:asvg="http://schemas.microsoft.com/office/drawing/2016/SVG/main" r:embed="R19a11195a7f148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0" y="3657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136B7-F9CD-44DF-AB60-BDC0DAC9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39F64-1BA1-4C24-BDEF-15275A8E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521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C339E-365F-4FB5-B979-EB24CD3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43350"/>
            <a:ext cx="521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ChatGPT Plus or higher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7843d9956447b">
            <a:extLst>
              <a:ext uri="{96DAC541-7B7A-43D3-8B79-37D633B846F1}">
                <asvg:svgBlip xmlns:asvg="http://schemas.microsoft.com/office/drawing/2016/SVG/main" r:embed="Ref48b0dcfab940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0" y="36576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DC406-FC02-4DE5-8DD0-A82947A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387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AE6C5-22B2-4613-AD00-A0637B4C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91150"/>
            <a:ext cx="3409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principal-ml-engineer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E281D6-B26E-4E7A-9D91-FD003B2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34050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Architecture, evaluation, approval gates.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CA4A0-26D3-48C0-B6F4-62A08AE6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387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7F989-A1E0-400A-8B6C-2937514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391150"/>
            <a:ext cx="3409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ui-ux-designer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1884DB-1729-436F-8E30-85FB8B7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34050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Dashboard clarity and manual-review flow.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00EFDD-A187-4B8C-B4EA-31477780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D084C-0E54-4024-9787-14C24D3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3409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quant-researcher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8F19D5-C54C-4EBB-9E0A-5D759F35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34050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Session 3 research and risk context.</a:t>
            </a:r>
          </a:p>
        </p:txBody>
      </p:sp>
    </p:spTree>
    <p:extLst>
      <p:ext uri="{BB962C8B-B14F-4D97-AF65-F5344CB8AC3E}">
        <p14:creationId xmlns:p14="http://schemas.microsoft.com/office/powerpoint/2010/main" val="5906465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40BEB6A-F8B3-4C79-B178-56F7B752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3FC38-4299-49F5-8C7D-46D5A8C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C9B8ADE-7952-418B-9E69-489B7CDA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0953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2E47DA-A50B-4468-9BC0-50F7A50A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68015-F762-4B62-B0AF-E78EE126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The dashboard is the product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E54B1-CE3B-4F43-A258-979A422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Students inspect the idea visually, but they still build in their own blank folder.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2859D-B115-446C-AF45-B1FBBB8F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6F8EC-5ED7-477A-85BB-F88A4177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0c031c1214bc0"/>
          <a:srcRect xmlns:a="http://schemas.openxmlformats.org/drawingml/2006/main" l="0" t="13329" r="0" b="133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" y="1695450"/>
            <a:ext cx="7667625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924E4-5EB0-4367-8654-F4ECCCB3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95450"/>
            <a:ext cx="3667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1418F-740C-44E8-AB6A-FBABEF7A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47850"/>
            <a:ext cx="3362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Manual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66E55-06C3-4580-B2FC-4B9BF0EF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90750"/>
            <a:ext cx="3362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The dashboard helps a person decide what to inspect. It does not place trades.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65EDA-1C07-452C-987A-A91F898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3667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7AE83-DA18-48F5-8A90-17CA0CCF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19450"/>
            <a:ext cx="3362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Source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3CB67-7F88-4D0B-B15F-2F16E1B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62350"/>
            <a:ext cx="3362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Alerts and metrics must separate core model from Carter Squeeze.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92D81-2602-47F5-B3CD-490E944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38650"/>
            <a:ext cx="3667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7A7D7-7703-4EFE-A791-642C9DF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91050"/>
            <a:ext cx="3362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No broker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43CC5-45FD-4E92-9101-A73130FF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933950"/>
            <a:ext cx="33623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No order buttons. No Robinhood. No automatic execution.</a:t>
            </a:r>
          </a:p>
        </p:txBody>
      </p:sp>
    </p:spTree>
    <p:extLst>
      <p:ext uri="{BB962C8B-B14F-4D97-AF65-F5344CB8AC3E}">
        <p14:creationId xmlns:p14="http://schemas.microsoft.com/office/powerpoint/2010/main" val="18100619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5ADE051-4990-4BF3-B190-DF3F1C1F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09C0F-0196-4927-9252-D9D42E9A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C03DE8-6AD8-4F33-BB4B-1ACAE149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352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1E7EA2-8E30-4680-95FB-F550C65F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BOT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F4087-AC18-400A-A054-5F6D0B26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Boundaries that must not drift.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C7B25-387D-4D69-B233-6B68351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These are the current facts students must put in the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12AC1-AA75-4D7F-BA9B-17B2FD2A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EEFA0-19E8-4229-9561-72E494DA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E53F9-8B56-4BC4-9D20-60F1DADE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907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3DAD4-A71C-46F2-8FCC-569CD397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SPY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QQQ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IWM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0DA6F-4956-4BB7-B57D-3D7388B1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2415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Only supported symbols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94CE9-3279-43CA-8283-9A003841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907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8C563-1C68-4946-91FF-1C362026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050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80+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6F4A6-B1A0-4056-9183-DA76D95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81250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 score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D0A38-900C-4AA7-8084-6F427BE3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A76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DC3FD-0695-43E0-AD6D-2FA531DB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15m / 30m / 1h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A043B-0E15-4FCF-AAD1-23B3B77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 timeframes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C8E71-C636-4077-AA59-2DF19C6A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907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CF33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F6A41-B88A-4F94-B47E-5C4ED1C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050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60 seconds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87682-8015-47A1-9FCF-9114C21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81250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Configured scan cadence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049AC-0648-4345-AAB2-BEECEA7C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290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97CA4-364E-47AA-8C7F-ECED85EA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433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Carter Squeeze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2A6E9-D1EA-4D32-ABC8-E27180C0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19550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Separate source-labeled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92B4CA-B45E-4DEC-A2E3-333AD2F2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290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FAB8F-42EC-4DE0-BD20-59FE6F5F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433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Research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D52B8-8EF6-4C50-9C46-31630695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19550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Hard-block risk score 65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B82614-EF5A-45AC-9ED2-6D6B2175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A76A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68BC8B-C393-4EE5-9005-45F39A21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Manual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73DED-90A4-4B5F-8812-DFBC318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 never means automatic trade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0F1DF-06D9-41D8-99BD-DCDDE42B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CF33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7BDF5-7D59-4308-9BFB-F2ECC6FD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4330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No broker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8C0C2-235A-437C-B57E-F6FD4AD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19550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No Robinhood, no execution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B657EB-FB21-4D61-A261-DBDAA2F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34000"/>
            <a:ext cx="1162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5429F3-A053-4305-990C-ADBB6F10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86400"/>
            <a:ext cx="1131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Replay and paper validation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C9C63E-2D60-44BE-8A90-64EDC178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29300"/>
            <a:ext cx="11315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Educational evidence only. Never proof of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8842129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6D6017-C53D-4AFA-B971-FC2A8B6B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3094A-A605-4B0C-876C-C37BE2CC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16F3C4-54E3-4320-B6E8-7E3F85FB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009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38F7AB-03FE-47F4-BD28-2DE7D18D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THREAD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17CCB-4E74-4969-9FD6-B4E6F0C6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Start with the Project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C3E40-6C8B-4016-B11D-208445F1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The instructor provides the prompt. Students paste it once and wait for the reviewed plan before any build.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70FE1-BF6A-47E6-9594-72D5532C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E988D-E1C3-4060-A2CE-0429AD5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96D74-8F84-42CE-9C7E-34297888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0"/>
            <a:ext cx="3905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E171A"/>
          </a:solidFill>
          <a:ln xmlns:a="http://schemas.openxmlformats.org/drawingml/2006/main" w="9525">
            <a:solidFill>
              <a:srgbClr val="2032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6C88C-EE4C-4695-B4C4-908E9B9D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62150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F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FE0"/>
                </a:solidFill>
                <a:latin typeface="Aptos"/>
                <a:ea typeface="Aptos"/>
                <a:cs typeface="Aptos"/>
              </a:rPr>
              <a:t>In Codex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FEB50-72C7-45B1-AB21-494E828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05050"/>
            <a:ext cx="36004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Use Project Plan mode before any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The first output should be a reviewed blueprint.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Build order: Plan -&gt; Review -&gt; Implement later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575BC-ACD5-4E20-8A1A-1AFFBB21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619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E3DB8-F25F-4BA3-98B0-232D9F6E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6215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5268C-1F37-459B-92A6-EC69111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05050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Open blank folder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926DF-2092-4A2E-91BF-97FC518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619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87EF1-8CEC-45BA-8607-541E28A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DD4F7-9B35-4BD8-9AEF-2FD13A36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Create Thread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7172D-1118-4848-B91D-DA1B1CD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619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A76A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13FAA-8A09-47DC-B2B9-C129FC74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C8F8B-D04C-4CDF-9228-63834105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19500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Use Project Plan mode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6FB5A-E043-493D-9E97-5C9CE8EA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3619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CF33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8E8DD-D172-49BA-964D-BBC54C19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83518-EEF7-4040-8BF0-79F4C112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314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Paste prompt from notes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BE8DF-CBEC-476B-8D90-B331CE21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7334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940DE-D8F5-4D10-87AB-295F667B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00600"/>
            <a:ext cx="702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Class step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917009-B5E1-4AD0-A575-B18244FF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43500"/>
            <a:ext cx="7029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Paste the full Thread A prompt one time. Do not submit partial pieces.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A452A-5410-488C-8E2F-947284CE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05450"/>
            <a:ext cx="7334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999F4-6058-4353-8C7F-E6003F21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57850"/>
            <a:ext cx="702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Stop at the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BC9808-DA43-4CE5-BDAE-FFBF36FC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00750"/>
            <a:ext cx="7029450" cy="-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Do not build QA/paper or research in Thread A.</a:t>
            </a:r>
          </a:p>
        </p:txBody>
      </p:sp>
    </p:spTree>
    <p:extLst>
      <p:ext uri="{BB962C8B-B14F-4D97-AF65-F5344CB8AC3E}">
        <p14:creationId xmlns:p14="http://schemas.microsoft.com/office/powerpoint/2010/main" val="12884864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51CD349-BD04-427D-952E-3694A775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EF0CF-70C3-4D14-A898-71C0964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10E894-9DB5-43C0-9818-EF3677A6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0953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1B0598-7889-4ABA-80D5-130591F9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1D33C-BF83-482E-9C39-8266152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Candidate first, alert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E4FEA-B3B7-4D8A-A753-206EF2D2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This slide is the simple explanation of the alert lifecycle.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7BC93-11B1-42CA-9563-DB6248CE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D67B0-F1CD-4BB2-87F2-F729DE4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B9F7C-90D4-4501-95EA-13B9C54D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33625"/>
            <a:ext cx="1695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5EF00-68D8-4B8E-A54A-8B77A987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860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Market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77C51-132D-427E-ABEF-085C1E6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28925"/>
            <a:ext cx="13906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yfinance candles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D3A63-4B0E-4DEE-AFDF-EA5E628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781300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86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0AC29-F7C4-4FB7-9C71-561CECF9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333625"/>
            <a:ext cx="1695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C3CBB-166D-4FE0-9021-27690E80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860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Timeframes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5C20B-89E7-45C0-B81B-2316107B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828925"/>
            <a:ext cx="13906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15m / 30m / 1h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6DA13-D81C-46F5-AD0C-ED3DC42B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81300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86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69D73-5657-4DBB-8B3D-643443E7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33625"/>
            <a:ext cx="1695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FBD4A-633C-4410-BC6A-A2FC38E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860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Setup candidate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9BCE0-F54C-46E8-916D-36C36E98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28925"/>
            <a:ext cx="13906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Possible idea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B193A-4A50-4FFB-8C88-D1DC5333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81300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86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04DAB-C109-441F-ADA5-00B714A1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33625"/>
            <a:ext cx="1695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F92DE-3313-4579-967B-C56DC9C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860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Blockers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D04B0-DBE3-484E-B972-6E6E9FB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28925"/>
            <a:ext cx="13906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Risk, chop, stale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CBF4B-E42D-46F8-B551-4A18BBF3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86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93037-3BA6-4002-B51A-A914E2E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33625"/>
            <a:ext cx="1695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45CE9-F632-4649-AF92-7E6734E5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860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330F5-F25B-46F8-AC63-536E481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28925"/>
            <a:ext cx="13906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80+ required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EACD3-905E-4541-A4EC-570ACAE4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81300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C686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1B422-FB3A-4EFA-8D22-161005A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6954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F696F-0133-4413-9E4F-C9D1F78C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4860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A9349-53D2-45B5-83DF-AF5BA8E1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28925"/>
            <a:ext cx="13906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Human review next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752EE-B8C9-4195-B6AA-F6B79C5A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3381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363B6B-6184-4A7C-8429-BCF713B1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33900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Not an alert yet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EE1CA2-05C9-49A5-8313-069AC244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76800"/>
            <a:ext cx="3076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 setup candidate can be rejected before it ever reaches the user.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271228-5852-4BDD-87B4-7B24E3D2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81500"/>
            <a:ext cx="3381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5E2F97-5969-4DAD-850E-82122156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33900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Not a trade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B181C4-B890-4E05-A930-56FE3CA5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3076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An alert is a message for manual review, not an instruction to enter.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2C0777-6F7F-47F3-8583-3B437212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3381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3CDB7E-3E7D-4D9F-87C8-423142A1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3076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Journal later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CE7F32-4685-4F49-87AE-77F07F21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3076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Session 2 connects the reviewed plan to QA, replay, and paper validation.</a:t>
            </a:r>
          </a:p>
        </p:txBody>
      </p:sp>
    </p:spTree>
    <p:extLst>
      <p:ext uri="{BB962C8B-B14F-4D97-AF65-F5344CB8AC3E}">
        <p14:creationId xmlns:p14="http://schemas.microsoft.com/office/powerpoint/2010/main" val="3164461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F5D86DE-BE6E-48CD-A6F4-AFFEFB0B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51E40-F725-4DD6-8BCA-B76C95F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86C023-231C-4D8C-A089-EB0E2CDC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142ED7-0314-46C7-9B76-3509BB74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1BC2A-F986-4DBB-9DBF-70A4C1C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The plan must produce these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A2B29-4C94-4757-8240-96C306AC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If Codex skips one, stop and revise the plan before building.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B131B-4CA3-4FDC-8D03-136D207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3D328-01B6-41DA-A389-9DF21A4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94AFB-841C-474D-B562-35ABF98F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6E42B-38D8-4131-8B51-8AE7577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E2361-0AAC-4F31-8F1E-FC703BDE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02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Project goal and safety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9E5AA-187F-4741-BCCA-B04B87A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21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7C5D6-5F93-4E99-AF25-47BA84EC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EC596-B4B2-44BB-A344-2610581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02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Folder/module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7DC04-BBE0-4A16-B54F-13F43883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E51DC-E1F8-481A-AC08-F7865502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BEECE-23D9-455B-8369-6AD17D9F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Safe settings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81ABF-064C-4370-85DC-B163FB1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384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80F14-7E79-447D-AF12-297584C1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CDBE8-3211-43BA-8AC4-66A88ED0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765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Core vs Carter source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6D560-5EFD-4528-8998-01DB614E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147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58084-D9E1-4746-B250-69DA60D6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F3328-40D3-42C1-998B-11C2EA31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 lifecycle diagram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2B5E4-018B-4D51-BC0C-9438003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147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3D6CE-71D0-49E3-8F02-BB72513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814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202B7-E938-4F59-A568-C6B48EA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528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Research/risk gate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A39C6-10B5-4F7D-9847-73B26F16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8E2E2-3F3C-496B-AE1B-A0C7A9B4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451B7-D0B2-4398-98D8-5735772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Manual-review dashboard 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9C5AEA-14A7-41FB-86A7-64417033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910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B7ACF-FD00-4BE1-98D9-89FA461A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7B67A1-0C76-44A9-A96B-2B283AB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Session 2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90436D-DDEB-4A2A-83E7-89B8B326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E7E7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46A94A-B24C-4635-B3EF-A0F3F937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1055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F33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3333"/>
                </a:solidFill>
                <a:latin typeface="Aptos"/>
                <a:ea typeface="Aptos"/>
                <a:cs typeface="Aptos"/>
              </a:rPr>
              <a:t>Do not approve vague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70502-8098-4EF8-8FD5-05718568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72175"/>
            <a:ext cx="105537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The plan must explicitly say alert-only, no broker, no real secrets, and manual review required.</a:t>
            </a:r>
          </a:p>
        </p:txBody>
      </p:sp>
    </p:spTree>
    <p:extLst>
      <p:ext uri="{BB962C8B-B14F-4D97-AF65-F5344CB8AC3E}">
        <p14:creationId xmlns:p14="http://schemas.microsoft.com/office/powerpoint/2010/main" val="13282480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D3437C-FBA7-4EA4-94C9-3D594ECB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D3888-9246-401C-A50B-83AE8AE6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ABF0B5-BE1A-4227-9779-14258451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12668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E8ACBA-5C63-47F4-B439-D71C1E94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942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REVIEW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F0D47-A477-462E-BA36-EC8C89E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Do not build until the plan passes.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AC7EA-8313-42EC-BB09-7A0F545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The review gate prevents students from accidentally building a trading bot instead of an alert bot.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46D9F-F9BB-4E52-94C1-D5030A8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946D5-B12F-4F5C-8074-76F54167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EB618-5BF4-4105-BDC3-035787DB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03C5F-BAAE-4ABA-B84A-A13C37E3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0BEEE-3064-4009-AB7F-814A62F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9545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Alert-only language is explicit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21C8F-7417-4D8B-A6E5-C512CCEF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4AD80-73EC-4EA9-8966-E9C59B1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241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0CFA3-9A8C-4051-9A5C-2E3A7D3E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SPY/QQQ/IWM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8C6AC-E74A-466F-A89B-34B2C3B2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51221-D6D6-467A-B47D-BEEBB989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793E0-182E-4329-B14C-E9DA580F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Threshold 80 and 15m/30m/1h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4454C-7116-4F4B-B2D2-DA390046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97887-6E8E-4FFE-A7D0-AD86771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862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362F0-33D5-4CB3-B199-62D3D1F1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Configured cadence 60 seconds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BFC63-0C6C-46C0-BCD4-CC59771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51415-B0C7-4FCB-A894-3F7D5526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743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E4713-0FEB-417B-85B9-FE5FB03A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Carter Squeeze separate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50BA5-0EC5-4EA8-83DE-7A8D1A84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0440C-DDE6-4B57-BC0B-B184A3C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241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C2D4E5-ABAD-4988-BA48-DE47C1E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No broker or Robinhood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2DEC-32A1-4FCC-A1EC-9EC95854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289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734EE-2603-4568-BE10-1AF2AC3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051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0F82A-5FDA-4113-B102-CEED54B0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No real secrets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CE75F-1CFF-4FD0-A3D6-54D0CA7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00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C776D-E9D2-45F7-A062-0532D13C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862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5BF3E-A9C6-4813-A779-90E437A2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17"/>
                </a:solidFill>
                <a:latin typeface="Aptos"/>
                <a:ea typeface="Aptos"/>
                <a:cs typeface="Aptos"/>
              </a:rPr>
              <a:t>No profit promise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47A99-D4EF-4066-ACE5-7940985A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B069C-B159-4A74-B100-C9680556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86400"/>
            <a:ext cx="1017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Review 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4122C8-D9F1-438B-AD13-93226849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101727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If anything is missing, ask Codex for the smallest fix. Do not let the project move to implementation yet.</a:t>
            </a:r>
          </a:p>
        </p:txBody>
      </p:sp>
    </p:spTree>
    <p:extLst>
      <p:ext uri="{BB962C8B-B14F-4D97-AF65-F5344CB8AC3E}">
        <p14:creationId xmlns:p14="http://schemas.microsoft.com/office/powerpoint/2010/main" val="5118211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E109459-EFE6-4548-A3CC-FDB9370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B95AC-7083-4C80-B95F-5042955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BCE29C-1967-4469-8A38-E9562916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D26D2C-3D87-4EC1-8820-9D7B52B5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DE379-85F8-41E4-B259-5AFF2538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What comes after the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B4156-9DAC-498C-AA6B-0E4B29FA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Session 1 gives later threads a safe artifact to build from.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23811-6FDB-481A-A11E-30B25CF7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3A9A9-1C01-4CBD-B806-7695452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9426B-C826-4ECA-850F-58CF733F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00"/>
            <a:ext cx="3619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0FA94-A1B8-4A43-997C-770D5A17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Today: Thread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4AD9D-E629-4B88-A408-4722B588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0300"/>
            <a:ext cx="33147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Reviewed project plan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Architecture map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Safe settings contract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Alert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66BBF-E148-443F-9EE3-0F5D6DAE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3619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1D65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D065D-1CFE-46BF-9E8C-5C9203BE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65C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5C1"/>
                </a:solidFill>
                <a:latin typeface="Aptos"/>
                <a:ea typeface="Aptos"/>
                <a:cs typeface="Aptos"/>
              </a:rPr>
              <a:t>Session 2: Thread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90FD6-0AF7-480D-BC19-79159957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3147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QA checks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Replay and paper validation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Source-aware metrics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Dashboard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1CBCC-7E96-472F-A88B-746BA73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3619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9525">
            <a:solidFill>
              <a:srgbClr val="A76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B7FA5-7B28-46B6-B34D-069E8D3B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76A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6A12"/>
                </a:solidFill>
                <a:latin typeface="Aptos"/>
                <a:ea typeface="Aptos"/>
                <a:cs typeface="Aptos"/>
              </a:rPr>
              <a:t>Session 3: Thread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57D18-FF7A-4213-8497-B4F16D7A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33147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Research brief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Risk gates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Email summaries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Decision-support language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63CFE-E70B-475E-8E70-9AB67E17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14B99-2B4A-4E24-AF1C-907B3FA7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81650"/>
            <a:ext cx="1017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Handoff artifact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42B54-BDF4-4F4A-8027-5F93EDFA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01727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Students save the Thread A Project Plan output before Session 2.</a:t>
            </a:r>
          </a:p>
        </p:txBody>
      </p:sp>
    </p:spTree>
    <p:extLst>
      <p:ext uri="{BB962C8B-B14F-4D97-AF65-F5344CB8AC3E}">
        <p14:creationId xmlns:p14="http://schemas.microsoft.com/office/powerpoint/2010/main" val="15860549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EF85E46-163D-46C8-86A0-40265D3B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BA202-F778-4A4C-98E3-C70989ED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D2AEFB-DEDE-4996-A856-71E3641B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781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2F7D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0E1354E-47EA-4BEA-BA49-28E683C1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9C189-5A24-4F25-A409-431E8842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91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17"/>
                </a:solidFill>
                <a:latin typeface="Aptos Display"/>
                <a:ea typeface="Aptos Display"/>
                <a:cs typeface="Aptos Display"/>
              </a:rPr>
              <a:t>Leave with a reviewed Project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0389-EE0B-4B14-A80C-09409B9D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8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863"/>
                </a:solidFill>
                <a:latin typeface="Aptos"/>
                <a:ea typeface="Aptos"/>
                <a:cs typeface="Aptos"/>
              </a:rPr>
              <a:t>The class is complete when the plan is safe enough to become the build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94C34-62BF-4A52-94B8-E4BE539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24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Session 1 | Thread A Project Plan | Educational software, not financial advice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EE713-9A36-4C36-91FA-6CC5B2A0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151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1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16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19d261bf34a2a"/>
          <a:srcRect xmlns:a="http://schemas.openxmlformats.org/drawingml/2006/main" l="0" t="3714" r="0" b="3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" y="1714500"/>
            <a:ext cx="5334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0E42D-A8C1-484D-A1FF-CF2BA5AF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905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E171A"/>
          </a:solidFill>
          <a:ln xmlns:a="http://schemas.openxmlformats.org/drawingml/2006/main" w="9525">
            <a:solidFill>
              <a:srgbClr val="2032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2A065-A370-41AE-8B02-8B2DACD8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560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FF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FE0"/>
                </a:solidFill>
                <a:latin typeface="Aptos"/>
                <a:ea typeface="Aptos"/>
                <a:cs typeface="Aptos"/>
              </a:rPr>
              <a:t>Final student 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DA266-891F-43DC-8281-EF2E8741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6007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Project Plan saved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Folder/module map included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Settings contract included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Carter lane separated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No secrets and no broker execution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2F6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2F6F4"/>
                </a:solidFill>
                <a:latin typeface="Aptos"/>
                <a:ea typeface="Aptos"/>
                <a:cs typeface="Aptos"/>
              </a:rPr>
              <a:t>Safety sentence included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697BE-9583-437F-9EC9-05761245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590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E8"/>
          </a:solidFill>
          <a:ln xmlns:a="http://schemas.openxmlformats.org/drawingml/2006/main" w="9525">
            <a:solidFill>
              <a:srgbClr val="D9DE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3C053-E2A5-4927-90CE-BD6EC73C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560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D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3B"/>
                </a:solidFill>
                <a:latin typeface="Aptos"/>
                <a:ea typeface="Aptos"/>
                <a:cs typeface="Aptos"/>
              </a:rPr>
              <a:t>Final safety sentence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BEB5F-BA84-47C1-AF9D-CCF6E3F1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560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17"/>
                </a:solidFill>
                <a:latin typeface="Aptos"/>
                <a:ea typeface="Aptos"/>
                <a:cs typeface="Aptos"/>
              </a:rPr>
              <a:t>This system is alert-only and does not place trades.</a:t>
            </a:r>
          </a:p>
        </p:txBody>
      </p:sp>
    </p:spTree>
    <p:extLst>
      <p:ext uri="{BB962C8B-B14F-4D97-AF65-F5344CB8AC3E}">
        <p14:creationId xmlns:p14="http://schemas.microsoft.com/office/powerpoint/2010/main" val="1739603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2026-06-18T17:13:18.0630000Z</dcterms:created>
  <dcterms:modified xsi:type="dcterms:W3CDTF">2026-06-18T17:13:18.0630000Z</dcterms:modified>
</coreProperties>
</file>